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7" r:id="rId21"/>
    <p:sldId id="274" r:id="rId22"/>
    <p:sldId id="275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9838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053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367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1858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2867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7400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998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1166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73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0905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418492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3143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89856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0057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5851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0021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BFCD85-BA7D-46B5-8958-FAB44A4492C0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C0FB1-1E08-4064-B051-1C4118847E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0123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1B49E8D-FFF9-5357-F26D-FADAD62FF1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7000" y="1333500"/>
            <a:ext cx="8057997" cy="3289300"/>
          </a:xfr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r>
              <a:rPr lang="ru-RU" sz="5400" b="1" dirty="0">
                <a:solidFill>
                  <a:schemeClr val="tx1"/>
                </a:solidFill>
              </a:rPr>
              <a:t>Курсовой проект на тему: Проектирование ИС </a:t>
            </a:r>
            <a:r>
              <a:rPr lang="en-US" sz="5400" b="1" dirty="0">
                <a:solidFill>
                  <a:schemeClr val="tx1"/>
                </a:solidFill>
              </a:rPr>
              <a:t>“</a:t>
            </a:r>
            <a:r>
              <a:rPr lang="ru-RU" sz="5400" b="1" dirty="0">
                <a:solidFill>
                  <a:schemeClr val="tx1"/>
                </a:solidFill>
              </a:rPr>
              <a:t>Кадровое агентство</a:t>
            </a:r>
            <a:r>
              <a:rPr lang="en-US" sz="5400" b="1" dirty="0">
                <a:solidFill>
                  <a:schemeClr val="tx1"/>
                </a:solidFill>
              </a:rPr>
              <a:t>”</a:t>
            </a:r>
            <a:endParaRPr lang="ru-RU" sz="5400" b="1" dirty="0">
              <a:solidFill>
                <a:schemeClr val="tx1"/>
              </a:solidFill>
            </a:endParaRP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695ED397-81F9-431F-F5CA-8CF37E1C95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05226" y="4858110"/>
            <a:ext cx="6181548" cy="999179"/>
          </a:xfr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algn="l"/>
            <a:r>
              <a:rPr lang="ru-RU" sz="1400" b="1" dirty="0">
                <a:solidFill>
                  <a:schemeClr val="tx1"/>
                </a:solidFill>
              </a:rPr>
              <a:t>Выполнил</a:t>
            </a:r>
            <a:r>
              <a:rPr lang="en-US" sz="1400" b="1" dirty="0">
                <a:solidFill>
                  <a:schemeClr val="tx1"/>
                </a:solidFill>
              </a:rPr>
              <a:t>:</a:t>
            </a:r>
            <a:r>
              <a:rPr lang="ru-RU" sz="1400" b="1" dirty="0">
                <a:solidFill>
                  <a:schemeClr val="tx1"/>
                </a:solidFill>
              </a:rPr>
              <a:t> Оспанов а. </a:t>
            </a:r>
            <a:r>
              <a:rPr lang="en-US" sz="1400" b="1" dirty="0">
                <a:solidFill>
                  <a:schemeClr val="tx1"/>
                </a:solidFill>
              </a:rPr>
              <a:t>A.</a:t>
            </a:r>
            <a:endParaRPr lang="ru-RU" sz="1400" b="1" dirty="0">
              <a:solidFill>
                <a:schemeClr val="tx1"/>
              </a:solidFill>
            </a:endParaRPr>
          </a:p>
          <a:p>
            <a:pPr algn="l"/>
            <a:r>
              <a:rPr lang="ru-RU" sz="1400" b="1" dirty="0">
                <a:solidFill>
                  <a:schemeClr val="tx1"/>
                </a:solidFill>
              </a:rPr>
              <a:t>Студент 1 курса очной формы обучения, группы </a:t>
            </a:r>
            <a:r>
              <a:rPr lang="ru-RU" sz="1400" b="1" dirty="0" err="1">
                <a:solidFill>
                  <a:schemeClr val="tx1"/>
                </a:solidFill>
              </a:rPr>
              <a:t>ИСиП</a:t>
            </a:r>
            <a:r>
              <a:rPr lang="ru-RU" sz="1400" b="1" dirty="0">
                <a:solidFill>
                  <a:schemeClr val="tx1"/>
                </a:solidFill>
              </a:rPr>
              <a:t> 2</a:t>
            </a: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ru-RU" sz="1400" b="1" dirty="0">
                <a:solidFill>
                  <a:schemeClr val="tx1"/>
                </a:solidFill>
              </a:rPr>
              <a:t>-11-1</a:t>
            </a:r>
          </a:p>
          <a:p>
            <a:pPr algn="l"/>
            <a:r>
              <a:rPr lang="ru-RU" sz="1400" b="1" dirty="0">
                <a:solidFill>
                  <a:schemeClr val="tx1"/>
                </a:solidFill>
              </a:rPr>
              <a:t>Проверила: Гончарова Т.В., должность: преподаватель проф. дисциплин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AA570-0941-ED92-FD6B-1121AB664C7F}"/>
              </a:ext>
            </a:extLst>
          </p:cNvPr>
          <p:cNvSpPr txBox="1"/>
          <p:nvPr/>
        </p:nvSpPr>
        <p:spPr>
          <a:xfrm>
            <a:off x="532584" y="57751"/>
            <a:ext cx="11230791" cy="94296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ru-RU" b="1" dirty="0">
                <a:solidFill>
                  <a:schemeClr val="tx1"/>
                </a:solidFill>
                <a:latin typeface="+mj-lt"/>
                <a:ea typeface="ADLaM Display" panose="02010000000000000000" pitchFamily="2" charset="0"/>
                <a:cs typeface="ADLaM Display" panose="02010000000000000000" pitchFamily="2" charset="0"/>
              </a:rPr>
              <a:t>ГОСУДАРСТВЕННОЕ АВТОНОМНОЕ ПРОФЕССИОНАЛЬНОЕ ОБРАЗОВАТЕЛЬНОЕ УЧРЕЖДЕНИЕ  ТЮМЕНСКОЙ ОБЛАСТИ </a:t>
            </a:r>
            <a:r>
              <a:rPr lang="en-US" b="1" dirty="0">
                <a:solidFill>
                  <a:schemeClr val="tx1"/>
                </a:solidFill>
                <a:latin typeface="+mj-lt"/>
                <a:ea typeface="ADLaM Display" panose="02010000000000000000" pitchFamily="2" charset="0"/>
                <a:cs typeface="ADLaM Display" panose="02010000000000000000" pitchFamily="2" charset="0"/>
              </a:rPr>
              <a:t>“</a:t>
            </a:r>
            <a:r>
              <a:rPr lang="ru-RU" b="1" dirty="0">
                <a:solidFill>
                  <a:schemeClr val="tx1"/>
                </a:solidFill>
                <a:latin typeface="+mj-lt"/>
                <a:ea typeface="ADLaM Display" panose="02010000000000000000" pitchFamily="2" charset="0"/>
                <a:cs typeface="ADLaM Display" panose="02010000000000000000" pitchFamily="2" charset="0"/>
              </a:rPr>
              <a:t>ТЮМЕНСКИЙ ТЕХНИКУМ СТРОИТЕЛЬНОЙ ИНДУСТРИИ И ГОРОДСКОГО ХОЗЯЙСТВА</a:t>
            </a:r>
            <a:r>
              <a:rPr lang="en-US" b="1" dirty="0">
                <a:solidFill>
                  <a:schemeClr val="tx1"/>
                </a:solidFill>
                <a:latin typeface="+mj-lt"/>
                <a:ea typeface="ADLaM Display" panose="02010000000000000000" pitchFamily="2" charset="0"/>
                <a:cs typeface="ADLaM Display" panose="02010000000000000000" pitchFamily="2" charset="0"/>
              </a:rPr>
              <a:t>”</a:t>
            </a:r>
            <a:endParaRPr lang="ru-RU" b="1" dirty="0">
              <a:solidFill>
                <a:schemeClr val="tx1"/>
              </a:solidFill>
              <a:latin typeface="+mj-lt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80E438-F1AE-834B-E9D1-C83B5428E6D3}"/>
              </a:ext>
            </a:extLst>
          </p:cNvPr>
          <p:cNvSpPr txBox="1"/>
          <p:nvPr/>
        </p:nvSpPr>
        <p:spPr>
          <a:xfrm>
            <a:off x="5186440" y="6430917"/>
            <a:ext cx="1780616" cy="369332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ru-RU" b="1" dirty="0">
                <a:solidFill>
                  <a:schemeClr val="tx1"/>
                </a:solidFill>
              </a:rPr>
              <a:t>Г. Тюмень, 2026</a:t>
            </a:r>
          </a:p>
        </p:txBody>
      </p:sp>
    </p:spTree>
    <p:extLst>
      <p:ext uri="{BB962C8B-B14F-4D97-AF65-F5344CB8AC3E}">
        <p14:creationId xmlns:p14="http://schemas.microsoft.com/office/powerpoint/2010/main" val="422088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4AFCC5-E725-EAF8-5A9A-3F3AF91353DF}"/>
              </a:ext>
            </a:extLst>
          </p:cNvPr>
          <p:cNvSpPr txBox="1"/>
          <p:nvPr/>
        </p:nvSpPr>
        <p:spPr>
          <a:xfrm>
            <a:off x="618566" y="385482"/>
            <a:ext cx="580909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5400" dirty="0"/>
              <a:t>Актуальность темы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9F7298-FE62-60C4-8B56-3C1B22938FF1}"/>
              </a:ext>
            </a:extLst>
          </p:cNvPr>
          <p:cNvSpPr txBox="1"/>
          <p:nvPr/>
        </p:nvSpPr>
        <p:spPr>
          <a:xfrm>
            <a:off x="546847" y="1640426"/>
            <a:ext cx="1030941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000" dirty="0"/>
              <a:t>Увеличение потребности компаний в квалифицированных кадрах</a:t>
            </a:r>
          </a:p>
          <a:p>
            <a:r>
              <a:rPr lang="ru-RU" sz="4000" dirty="0"/>
              <a:t>Сложность обработки большого объёма резюме вручную</a:t>
            </a:r>
          </a:p>
          <a:p>
            <a:r>
              <a:rPr lang="ru-RU" sz="4000" dirty="0"/>
              <a:t>Отсутствие единой платформы для взаимодействия работодателей, рекрутеров и кандидата</a:t>
            </a:r>
          </a:p>
        </p:txBody>
      </p:sp>
    </p:spTree>
    <p:extLst>
      <p:ext uri="{BB962C8B-B14F-4D97-AF65-F5344CB8AC3E}">
        <p14:creationId xmlns:p14="http://schemas.microsoft.com/office/powerpoint/2010/main" val="3038803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03F466-D91B-D133-298D-48EA37B832A6}"/>
              </a:ext>
            </a:extLst>
          </p:cNvPr>
          <p:cNvSpPr txBox="1"/>
          <p:nvPr/>
        </p:nvSpPr>
        <p:spPr>
          <a:xfrm>
            <a:off x="224118" y="107594"/>
            <a:ext cx="95743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i="0" dirty="0">
                <a:effectLst/>
                <a:latin typeface="system-ui"/>
              </a:rPr>
              <a:t>Цель:</a:t>
            </a:r>
            <a:r>
              <a:rPr lang="ru-RU" sz="3200" b="0" i="0" dirty="0">
                <a:effectLst/>
                <a:latin typeface="system-ui"/>
              </a:rPr>
              <a:t> </a:t>
            </a:r>
            <a:r>
              <a:rPr lang="ru-RU" sz="3200" dirty="0"/>
              <a:t>Спроектировать информационную систему для автоматизации подбора персонала кадровым агентством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8A3FCA-DE77-86F2-1E36-45882A863697}"/>
              </a:ext>
            </a:extLst>
          </p:cNvPr>
          <p:cNvSpPr txBox="1"/>
          <p:nvPr/>
        </p:nvSpPr>
        <p:spPr>
          <a:xfrm>
            <a:off x="224117" y="2211177"/>
            <a:ext cx="1091901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3200" b="1" i="0" dirty="0">
                <a:effectLst/>
                <a:latin typeface="system-ui"/>
              </a:rPr>
              <a:t>Задачи:</a:t>
            </a:r>
            <a:endParaRPr lang="ru-RU" sz="3200" b="0" i="0" dirty="0">
              <a:effectLst/>
              <a:latin typeface="system-ui"/>
            </a:endParaRPr>
          </a:p>
          <a:p>
            <a:pPr algn="l">
              <a:buFont typeface="+mj-lt"/>
              <a:buAutoNum type="arabicPeriod"/>
            </a:pPr>
            <a:r>
              <a:rPr lang="ru-RU" sz="3200" b="0" i="0" dirty="0">
                <a:effectLst/>
                <a:latin typeface="system-ui"/>
              </a:rPr>
              <a:t>Проанализировать предметную область</a:t>
            </a:r>
          </a:p>
          <a:p>
            <a:pPr algn="l">
              <a:buFont typeface="+mj-lt"/>
              <a:buAutoNum type="arabicPeriod"/>
            </a:pPr>
            <a:r>
              <a:rPr lang="ru-RU" sz="3200" b="0" i="0" dirty="0">
                <a:effectLst/>
                <a:latin typeface="system-ui"/>
              </a:rPr>
              <a:t>Построить функциональные модели (IDEF0, DFD)</a:t>
            </a:r>
          </a:p>
          <a:p>
            <a:pPr algn="l">
              <a:buFont typeface="+mj-lt"/>
              <a:buAutoNum type="arabicPeriod"/>
            </a:pPr>
            <a:r>
              <a:rPr lang="ru-RU" sz="3200" dirty="0">
                <a:latin typeface="system-ui"/>
              </a:rPr>
              <a:t>Построить </a:t>
            </a:r>
            <a:r>
              <a:rPr lang="en-US" sz="3200" dirty="0">
                <a:latin typeface="system-ui"/>
              </a:rPr>
              <a:t>UML-</a:t>
            </a:r>
            <a:r>
              <a:rPr lang="ru-RU" sz="3200" dirty="0">
                <a:latin typeface="system-ui"/>
              </a:rPr>
              <a:t>Диаграммы</a:t>
            </a:r>
            <a:endParaRPr lang="ru-RU" sz="3200" b="0" i="0" dirty="0">
              <a:effectLst/>
              <a:latin typeface="system-ui"/>
            </a:endParaRPr>
          </a:p>
          <a:p>
            <a:pPr>
              <a:buFont typeface="+mj-lt"/>
              <a:buAutoNum type="arabicPeriod"/>
            </a:pPr>
            <a:r>
              <a:rPr lang="ru-RU" sz="3200" dirty="0">
                <a:latin typeface="system-ui"/>
              </a:rPr>
              <a:t>Спроектировать базу данных</a:t>
            </a:r>
            <a:endParaRPr lang="en-US" sz="3200" dirty="0">
              <a:latin typeface="system-ui"/>
            </a:endParaRPr>
          </a:p>
          <a:p>
            <a:pPr>
              <a:buFont typeface="+mj-lt"/>
              <a:buAutoNum type="arabicPeriod"/>
            </a:pPr>
            <a:r>
              <a:rPr lang="ru-RU" sz="3200" dirty="0">
                <a:latin typeface="system-ui"/>
              </a:rPr>
              <a:t>Разработать эскизный проект веб-приложения</a:t>
            </a:r>
            <a:endParaRPr lang="ru-RU" dirty="0">
              <a:latin typeface="system-ui"/>
            </a:endParaRPr>
          </a:p>
        </p:txBody>
      </p:sp>
    </p:spTree>
    <p:extLst>
      <p:ext uri="{BB962C8B-B14F-4D97-AF65-F5344CB8AC3E}">
        <p14:creationId xmlns:p14="http://schemas.microsoft.com/office/powerpoint/2010/main" val="1575277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671521A-6895-52B8-0DE2-41F92B1E5DD0}"/>
              </a:ext>
            </a:extLst>
          </p:cNvPr>
          <p:cNvSpPr txBox="1"/>
          <p:nvPr/>
        </p:nvSpPr>
        <p:spPr>
          <a:xfrm>
            <a:off x="430306" y="294946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3600" b="1" i="0" dirty="0">
                <a:effectLst/>
                <a:latin typeface="system-ui"/>
              </a:rPr>
              <a:t>Анализ предметной области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A8CF17-E204-997E-DCD5-8F9F94E15630}"/>
              </a:ext>
            </a:extLst>
          </p:cNvPr>
          <p:cNvSpPr txBox="1"/>
          <p:nvPr/>
        </p:nvSpPr>
        <p:spPr>
          <a:xfrm>
            <a:off x="430306" y="1045767"/>
            <a:ext cx="1212924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3200" b="1" i="0" dirty="0">
                <a:effectLst/>
                <a:latin typeface="system-ui"/>
              </a:rPr>
              <a:t>Ключевые сущности:</a:t>
            </a:r>
            <a:endParaRPr lang="ru-RU" sz="3200" b="0" i="0" dirty="0">
              <a:effectLst/>
              <a:latin typeface="system-ui"/>
            </a:endParaRPr>
          </a:p>
          <a:p>
            <a:r>
              <a:rPr lang="ru-RU" sz="3200" dirty="0">
                <a:latin typeface="system-ui"/>
              </a:rPr>
              <a:t>Работодатели</a:t>
            </a:r>
          </a:p>
          <a:p>
            <a:r>
              <a:rPr lang="ru-RU" sz="3200" dirty="0">
                <a:latin typeface="system-ui"/>
              </a:rPr>
              <a:t>Вакансии</a:t>
            </a:r>
          </a:p>
          <a:p>
            <a:r>
              <a:rPr lang="ru-RU" sz="3200" dirty="0">
                <a:latin typeface="system-ui"/>
              </a:rPr>
              <a:t>Кандидаты</a:t>
            </a:r>
          </a:p>
          <a:p>
            <a:r>
              <a:rPr lang="ru-RU" sz="3200" dirty="0">
                <a:latin typeface="system-ui"/>
              </a:rPr>
              <a:t>Рекрутеры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329E5-B357-D9D9-DE9C-8CB94B056722}"/>
              </a:ext>
            </a:extLst>
          </p:cNvPr>
          <p:cNvSpPr txBox="1"/>
          <p:nvPr/>
        </p:nvSpPr>
        <p:spPr>
          <a:xfrm>
            <a:off x="246530" y="3600312"/>
            <a:ext cx="680869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3200" b="1" i="0" dirty="0">
                <a:effectLst/>
                <a:latin typeface="system-ui"/>
              </a:rPr>
              <a:t>Основные процессы:</a:t>
            </a:r>
            <a:endParaRPr lang="ru-RU" sz="3200" b="0" i="0" dirty="0">
              <a:effectLst/>
              <a:latin typeface="system-ui"/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3200" dirty="0">
                <a:latin typeface="system-ui"/>
              </a:rPr>
              <a:t>Создание вакансий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3200" dirty="0">
                <a:latin typeface="system-ui"/>
              </a:rPr>
              <a:t>Поиск кандидатов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3200" dirty="0">
                <a:latin typeface="system-ui"/>
              </a:rPr>
              <a:t>Обработка откликов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3200" dirty="0">
                <a:latin typeface="system-ui"/>
              </a:rPr>
              <a:t>Проведение собеседований</a:t>
            </a:r>
          </a:p>
        </p:txBody>
      </p:sp>
    </p:spTree>
    <p:extLst>
      <p:ext uri="{BB962C8B-B14F-4D97-AF65-F5344CB8AC3E}">
        <p14:creationId xmlns:p14="http://schemas.microsoft.com/office/powerpoint/2010/main" val="3003050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AB3BEC-2DB7-E2E0-55A8-A0AE5CA7BE90}"/>
              </a:ext>
            </a:extLst>
          </p:cNvPr>
          <p:cNvSpPr txBox="1"/>
          <p:nvPr/>
        </p:nvSpPr>
        <p:spPr>
          <a:xfrm>
            <a:off x="4296468" y="215153"/>
            <a:ext cx="35990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Диаграмма </a:t>
            </a:r>
            <a:r>
              <a:rPr lang="en-US" sz="3600" dirty="0"/>
              <a:t>IDEF0</a:t>
            </a:r>
            <a:endParaRPr lang="ru-RU" sz="3600" dirty="0"/>
          </a:p>
        </p:txBody>
      </p:sp>
      <p:pic>
        <p:nvPicPr>
          <p:cNvPr id="2" name="Рисунок 1" descr="Изображение выглядит как текст, диаграмма, линия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07046BD-AECC-5FEA-95DB-948CE7E88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7629" y="1164590"/>
            <a:ext cx="8816741" cy="506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2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A4D4AEF-DA7C-2D4C-49BB-612DF940D8C3}"/>
              </a:ext>
            </a:extLst>
          </p:cNvPr>
          <p:cNvSpPr txBox="1"/>
          <p:nvPr/>
        </p:nvSpPr>
        <p:spPr>
          <a:xfrm>
            <a:off x="3947271" y="286871"/>
            <a:ext cx="42974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Декомпозиция </a:t>
            </a:r>
            <a:r>
              <a:rPr lang="en-US" sz="3600" dirty="0"/>
              <a:t>IDEF0</a:t>
            </a:r>
            <a:endParaRPr lang="ru-RU" sz="3600" dirty="0"/>
          </a:p>
        </p:txBody>
      </p:sp>
      <p:pic>
        <p:nvPicPr>
          <p:cNvPr id="2" name="Рисунок 1" descr="Изображение выглядит как текст, диаграмма, Параллельный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0D7736-0A6E-1439-B740-9C0198EBD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851" y="1270100"/>
            <a:ext cx="8038432" cy="514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331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F511D-68E8-77AE-1E53-8BCF2DDD01A7}"/>
              </a:ext>
            </a:extLst>
          </p:cNvPr>
          <p:cNvSpPr txBox="1"/>
          <p:nvPr/>
        </p:nvSpPr>
        <p:spPr>
          <a:xfrm>
            <a:off x="3164267" y="224118"/>
            <a:ext cx="586346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Диаграмма потоков данных </a:t>
            </a:r>
            <a:r>
              <a:rPr lang="en-US" sz="3200" dirty="0"/>
              <a:t>DFD</a:t>
            </a:r>
            <a:endParaRPr lang="ru-RU" sz="3200" dirty="0"/>
          </a:p>
        </p:txBody>
      </p:sp>
      <p:pic>
        <p:nvPicPr>
          <p:cNvPr id="2" name="Рисунок 1" descr="Изображение выглядит как текст, диаграмма, План, Технический чертеж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F737446-1E38-EA7C-BE69-A17AE10E0E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17" y="1093469"/>
            <a:ext cx="7340417" cy="560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520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3545C8-0B66-2804-BA10-4B26518AB681}"/>
              </a:ext>
            </a:extLst>
          </p:cNvPr>
          <p:cNvSpPr txBox="1"/>
          <p:nvPr/>
        </p:nvSpPr>
        <p:spPr>
          <a:xfrm>
            <a:off x="4093943" y="9761"/>
            <a:ext cx="40041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Декомпозиция </a:t>
            </a:r>
            <a:r>
              <a:rPr lang="en-US" sz="3600" dirty="0"/>
              <a:t>DFD</a:t>
            </a:r>
            <a:endParaRPr lang="ru-RU" sz="3600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61863A-A9AD-1534-6A0D-FA2D4F2BD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6602" y="656092"/>
            <a:ext cx="7860181" cy="5993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844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83EC64-3E9D-3D09-CBC2-AC29A3378E37}"/>
              </a:ext>
            </a:extLst>
          </p:cNvPr>
          <p:cNvSpPr txBox="1"/>
          <p:nvPr/>
        </p:nvSpPr>
        <p:spPr>
          <a:xfrm>
            <a:off x="2789549" y="143435"/>
            <a:ext cx="81676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Диаграмма вариантов использования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E295F0-00D9-3AC8-3ECA-7FE1399AC3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3466" y="997686"/>
            <a:ext cx="9121792" cy="509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403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6A45B6-43AE-F70D-F74E-02B234DF56C7}"/>
              </a:ext>
            </a:extLst>
          </p:cNvPr>
          <p:cNvSpPr txBox="1"/>
          <p:nvPr/>
        </p:nvSpPr>
        <p:spPr>
          <a:xfrm>
            <a:off x="3268980" y="141366"/>
            <a:ext cx="56540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/>
              <a:t>Диаграмма деятельности</a:t>
            </a:r>
          </a:p>
        </p:txBody>
      </p:sp>
      <p:pic>
        <p:nvPicPr>
          <p:cNvPr id="3" name="Рисунок 2" descr="Изображение выглядит как диаграмма, текст, Технический чертеж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B8D258-5504-793E-5804-3CD791B958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7031" y="616318"/>
            <a:ext cx="5208587" cy="6241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957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194451-F1C5-5664-0C1C-1193DAA8B997}"/>
              </a:ext>
            </a:extLst>
          </p:cNvPr>
          <p:cNvSpPr txBox="1"/>
          <p:nvPr/>
        </p:nvSpPr>
        <p:spPr>
          <a:xfrm>
            <a:off x="3167378" y="143435"/>
            <a:ext cx="58572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Диаграмма последовательности</a:t>
            </a:r>
          </a:p>
        </p:txBody>
      </p:sp>
      <p:pic>
        <p:nvPicPr>
          <p:cNvPr id="3" name="Рисунок 2" descr="Изображение выглядит как текст, диаграмма, Параллельный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FA350EA-020C-3718-07BE-0BEE662EF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8821" y="728210"/>
            <a:ext cx="8191098" cy="5990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91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963A97-D0A6-78C5-C986-854F63CDFD32}"/>
              </a:ext>
            </a:extLst>
          </p:cNvPr>
          <p:cNvSpPr txBox="1"/>
          <p:nvPr/>
        </p:nvSpPr>
        <p:spPr>
          <a:xfrm>
            <a:off x="4283933" y="161364"/>
            <a:ext cx="3624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Диаграмма классов</a:t>
            </a:r>
          </a:p>
        </p:txBody>
      </p:sp>
      <p:pic>
        <p:nvPicPr>
          <p:cNvPr id="3" name="Рисунок 2" descr="Изображение выглядит как текст, диаграмма, Параллельный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BB14689-70B3-F1ED-6B08-5F5099FB8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4513" y="1365250"/>
            <a:ext cx="7898762" cy="4965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415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634707-FAF6-D088-DA62-016B4D866713}"/>
              </a:ext>
            </a:extLst>
          </p:cNvPr>
          <p:cNvSpPr txBox="1"/>
          <p:nvPr/>
        </p:nvSpPr>
        <p:spPr>
          <a:xfrm>
            <a:off x="4751721" y="170330"/>
            <a:ext cx="26885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ER-</a:t>
            </a:r>
            <a:r>
              <a:rPr lang="ru-RU" sz="3200" dirty="0"/>
              <a:t>диаграмма</a:t>
            </a:r>
          </a:p>
        </p:txBody>
      </p:sp>
      <p:pic>
        <p:nvPicPr>
          <p:cNvPr id="3" name="Рисунок 2" descr="Изображение выглядит как диаграмма, рисунок, зарисовка, шабл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50959AE-4E13-52BF-3FE0-92A418C64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00" y="709372"/>
            <a:ext cx="6395637" cy="597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2621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37FFF3-9227-3A0F-DF6D-225407CDB92C}"/>
              </a:ext>
            </a:extLst>
          </p:cNvPr>
          <p:cNvSpPr txBox="1"/>
          <p:nvPr/>
        </p:nvSpPr>
        <p:spPr>
          <a:xfrm>
            <a:off x="3435271" y="98611"/>
            <a:ext cx="53214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Диаграмма логического вида</a:t>
            </a:r>
          </a:p>
        </p:txBody>
      </p:sp>
      <p:pic>
        <p:nvPicPr>
          <p:cNvPr id="3" name="Рисунок 2" descr="Изображение выглядит как текст, диаграмма, Параллельный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6008891-F194-A1DE-FB71-D0990EB36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378" y="1145406"/>
            <a:ext cx="4067243" cy="537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23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6AE5D9-B179-95D3-59E8-CF75F5C71D6A}"/>
              </a:ext>
            </a:extLst>
          </p:cNvPr>
          <p:cNvSpPr txBox="1"/>
          <p:nvPr/>
        </p:nvSpPr>
        <p:spPr>
          <a:xfrm>
            <a:off x="3394395" y="80683"/>
            <a:ext cx="54032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Диаграмма физического вида</a:t>
            </a:r>
          </a:p>
        </p:txBody>
      </p:sp>
      <p:pic>
        <p:nvPicPr>
          <p:cNvPr id="3" name="Рисунок 2" descr="Изображение выглядит как текст, снимок экрана, программное обеспечение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2EACBC8-1585-A3E2-49ED-F55EF80A7B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17" y="1376363"/>
            <a:ext cx="6120765" cy="410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825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F22AAE-450D-79A3-2F0F-3B25CEAF2983}"/>
              </a:ext>
            </a:extLst>
          </p:cNvPr>
          <p:cNvSpPr txBox="1"/>
          <p:nvPr/>
        </p:nvSpPr>
        <p:spPr>
          <a:xfrm>
            <a:off x="4599435" y="222799"/>
            <a:ext cx="31069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Внешний вид </a:t>
            </a:r>
          </a:p>
        </p:txBody>
      </p:sp>
      <p:pic>
        <p:nvPicPr>
          <p:cNvPr id="7" name="Рисунок 6" descr="Изображение выглядит как текст, снимок экрана, Веб-сайт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2414114-D0AF-F693-2D69-ADDE500A98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1750" y="1058698"/>
            <a:ext cx="8364755" cy="557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801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B0BD336-4546-2348-93BF-88007AFB9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9641" y="392764"/>
            <a:ext cx="9423534" cy="6282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21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3CF7CBF-FEE5-48D8-32BA-0A267F9732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383" y="746626"/>
            <a:ext cx="8547234" cy="569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484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программное обеспечение, Значок на компьютер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DE5C406-1C02-7622-C281-EC43AAE475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652" y="522037"/>
            <a:ext cx="8720889" cy="5813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584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Веб-сайт, челове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D536973-5215-ADCA-155C-F29763DB17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1176" y="425784"/>
            <a:ext cx="9009647" cy="6006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2119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785A81-565D-EE8B-C50B-D9BB356DF3F5}"/>
              </a:ext>
            </a:extLst>
          </p:cNvPr>
          <p:cNvSpPr txBox="1"/>
          <p:nvPr/>
        </p:nvSpPr>
        <p:spPr>
          <a:xfrm>
            <a:off x="323850" y="428625"/>
            <a:ext cx="23134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/>
              <a:t>Заключение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0D8FC-A71D-B508-9E44-C32C56552BAD}"/>
              </a:ext>
            </a:extLst>
          </p:cNvPr>
          <p:cNvSpPr txBox="1"/>
          <p:nvPr/>
        </p:nvSpPr>
        <p:spPr>
          <a:xfrm>
            <a:off x="323850" y="1770787"/>
            <a:ext cx="9477375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0" i="0" dirty="0">
                <a:effectLst/>
                <a:latin typeface="system-ui"/>
              </a:rPr>
              <a:t>Цель работы достигнута</a:t>
            </a:r>
          </a:p>
          <a:p>
            <a:endParaRPr lang="ru-RU" sz="3200" b="0" i="0" dirty="0">
              <a:effectLst/>
              <a:latin typeface="system-ui"/>
            </a:endParaRPr>
          </a:p>
          <a:p>
            <a:r>
              <a:rPr lang="ru-RU" sz="3200" b="0" i="0" dirty="0">
                <a:effectLst/>
                <a:latin typeface="system-ui"/>
              </a:rPr>
              <a:t>Спроектирована полноценная ИС «</a:t>
            </a:r>
            <a:r>
              <a:rPr lang="ru-RU" sz="3200" dirty="0">
                <a:latin typeface="system-ui"/>
              </a:rPr>
              <a:t>Кадрового агентство</a:t>
            </a:r>
            <a:r>
              <a:rPr lang="ru-RU" sz="3200" b="0" i="0" dirty="0">
                <a:effectLst/>
                <a:latin typeface="system-ui"/>
              </a:rPr>
              <a:t>»</a:t>
            </a:r>
          </a:p>
          <a:p>
            <a:endParaRPr lang="ru-RU" sz="3200" b="0" i="0" dirty="0">
              <a:effectLst/>
              <a:latin typeface="system-ui"/>
            </a:endParaRPr>
          </a:p>
          <a:p>
            <a:r>
              <a:rPr lang="ru-RU" sz="3200" b="0" i="0" dirty="0">
                <a:effectLst/>
                <a:latin typeface="system-ui"/>
              </a:rPr>
              <a:t>Разработаны все необходимые модели и диаграммы</a:t>
            </a:r>
          </a:p>
          <a:p>
            <a:endParaRPr lang="ru-RU" sz="3200" b="0" i="0" dirty="0">
              <a:effectLst/>
              <a:latin typeface="system-ui"/>
            </a:endParaRPr>
          </a:p>
          <a:p>
            <a:r>
              <a:rPr lang="ru-RU" sz="3200" b="0" i="0" dirty="0">
                <a:effectLst/>
                <a:latin typeface="system-ui"/>
              </a:rPr>
              <a:t>Система готова к программной реализации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634975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79D23E-319B-544C-0511-499FEB3BCC89}"/>
              </a:ext>
            </a:extLst>
          </p:cNvPr>
          <p:cNvSpPr txBox="1"/>
          <p:nvPr/>
        </p:nvSpPr>
        <p:spPr>
          <a:xfrm>
            <a:off x="1392449" y="2921168"/>
            <a:ext cx="8563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6000" dirty="0"/>
              <a:t>СПАСИБО ЗА ВНИМАНИЕ</a:t>
            </a:r>
            <a:r>
              <a:rPr lang="en-US" sz="6000" dirty="0"/>
              <a:t>!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9550793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Контур">
  <a:themeElements>
    <a:clrScheme name="Контур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Контур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онтур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TM04033919[[fn=Контур]]</Template>
  <TotalTime>55</TotalTime>
  <Words>198</Words>
  <Application>Microsoft Office PowerPoint</Application>
  <PresentationFormat>Широкоэкранный</PresentationFormat>
  <Paragraphs>49</Paragraphs>
  <Slides>22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6" baseType="lpstr">
      <vt:lpstr>Arial</vt:lpstr>
      <vt:lpstr>system-ui</vt:lpstr>
      <vt:lpstr>Tw Cen MT</vt:lpstr>
      <vt:lpstr>Контур</vt:lpstr>
      <vt:lpstr>Курсовой проект на тему: Проектирование ИС “Кадровое агентство”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Захар Серебренников</dc:creator>
  <cp:lastModifiedBy>Артур Оспанов</cp:lastModifiedBy>
  <cp:revision>7</cp:revision>
  <dcterms:created xsi:type="dcterms:W3CDTF">2026-05-11T17:05:22Z</dcterms:created>
  <dcterms:modified xsi:type="dcterms:W3CDTF">2026-05-14T05:21:33Z</dcterms:modified>
</cp:coreProperties>
</file>