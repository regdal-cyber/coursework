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32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83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05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67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85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86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40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99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166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73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90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1849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14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985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057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851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02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12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1B49E8D-FFF9-5357-F26D-FADAD62FF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184" y="1333500"/>
            <a:ext cx="9784080" cy="3289300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 Проектирование ИС 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Кадровое агентство</a:t>
            </a: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95ED397-81F9-431F-F5CA-8CF37E1C9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5226" y="4858110"/>
            <a:ext cx="6181548" cy="999179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algn="l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Оспанов а.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 группы </a:t>
            </a:r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ИСиП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-11-1</a:t>
            </a:r>
          </a:p>
          <a:p>
            <a:pPr algn="l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AA570-0941-ED92-FD6B-1121AB664C7F}"/>
              </a:ext>
            </a:extLst>
          </p:cNvPr>
          <p:cNvSpPr txBox="1"/>
          <p:nvPr/>
        </p:nvSpPr>
        <p:spPr>
          <a:xfrm>
            <a:off x="532584" y="57751"/>
            <a:ext cx="11230791" cy="94296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  ТЮМЕНСКОЙ ОБЛАСТИ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“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ТЮМЕНСКИЙ ТЕХНИКУМ СТРОИТЕЛЬНОЙ ИНДУСТРИИ И ГОРОДСКОГО ХОЗЯЙСТВА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”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0E438-F1AE-834B-E9D1-C83B5428E6D3}"/>
              </a:ext>
            </a:extLst>
          </p:cNvPr>
          <p:cNvSpPr txBox="1"/>
          <p:nvPr/>
        </p:nvSpPr>
        <p:spPr>
          <a:xfrm>
            <a:off x="5186440" y="6430917"/>
            <a:ext cx="1828899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2026</a:t>
            </a:r>
          </a:p>
        </p:txBody>
      </p:sp>
    </p:spTree>
    <p:extLst>
      <p:ext uri="{BB962C8B-B14F-4D97-AF65-F5344CB8AC3E}">
        <p14:creationId xmlns:p14="http://schemas.microsoft.com/office/powerpoint/2010/main" val="422088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4AFCC5-E725-EAF8-5A9A-3F3AF91353DF}"/>
              </a:ext>
            </a:extLst>
          </p:cNvPr>
          <p:cNvSpPr txBox="1"/>
          <p:nvPr/>
        </p:nvSpPr>
        <p:spPr>
          <a:xfrm>
            <a:off x="618566" y="385482"/>
            <a:ext cx="59659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F7298-FE62-60C4-8B56-3C1B22938FF1}"/>
              </a:ext>
            </a:extLst>
          </p:cNvPr>
          <p:cNvSpPr txBox="1"/>
          <p:nvPr/>
        </p:nvSpPr>
        <p:spPr>
          <a:xfrm>
            <a:off x="546847" y="1640426"/>
            <a:ext cx="103094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потребности компаний в квалифицированных кадрах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обработки большого объёма резюме вручную</a:t>
            </a:r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единой платформы для взаимодействия работодателей, рекрутеров и кандидата</a:t>
            </a:r>
          </a:p>
        </p:txBody>
      </p:sp>
    </p:spTree>
    <p:extLst>
      <p:ext uri="{BB962C8B-B14F-4D97-AF65-F5344CB8AC3E}">
        <p14:creationId xmlns:p14="http://schemas.microsoft.com/office/powerpoint/2010/main" val="303880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03F466-D91B-D133-298D-48EA37B832A6}"/>
              </a:ext>
            </a:extLst>
          </p:cNvPr>
          <p:cNvSpPr txBox="1"/>
          <p:nvPr/>
        </p:nvSpPr>
        <p:spPr>
          <a:xfrm>
            <a:off x="224118" y="107594"/>
            <a:ext cx="95743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информационную систему для автоматизации подбора персонала кадровым агентством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A3FCA-DE77-86F2-1E36-45882A863697}"/>
              </a:ext>
            </a:extLst>
          </p:cNvPr>
          <p:cNvSpPr txBox="1"/>
          <p:nvPr/>
        </p:nvSpPr>
        <p:spPr>
          <a:xfrm>
            <a:off x="224117" y="2211177"/>
            <a:ext cx="109190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</a:t>
            </a:r>
          </a:p>
          <a:p>
            <a:pPr algn="l">
              <a:buFont typeface="+mj-lt"/>
              <a:buAutoNum type="arabicPeriod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функциональные модели (IDEF0, DFD)</a:t>
            </a:r>
          </a:p>
          <a:p>
            <a:pPr algn="l"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</a:t>
            </a:r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базу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эскизный проект веб-приложения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77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71521A-6895-52B8-0DE2-41F92B1E5DD0}"/>
              </a:ext>
            </a:extLst>
          </p:cNvPr>
          <p:cNvSpPr txBox="1"/>
          <p:nvPr/>
        </p:nvSpPr>
        <p:spPr>
          <a:xfrm>
            <a:off x="430306" y="2949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8CF17-E204-997E-DCD5-8F9F94E15630}"/>
              </a:ext>
            </a:extLst>
          </p:cNvPr>
          <p:cNvSpPr txBox="1"/>
          <p:nvPr/>
        </p:nvSpPr>
        <p:spPr>
          <a:xfrm>
            <a:off x="430306" y="1045767"/>
            <a:ext cx="121292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сущности:</a:t>
            </a:r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Работодатели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Вакансии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Кандидаты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Рекрутеры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329E5-B357-D9D9-DE9C-8CB94B056722}"/>
              </a:ext>
            </a:extLst>
          </p:cNvPr>
          <p:cNvSpPr txBox="1"/>
          <p:nvPr/>
        </p:nvSpPr>
        <p:spPr>
          <a:xfrm>
            <a:off x="246530" y="3600312"/>
            <a:ext cx="68086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процессы:</a:t>
            </a:r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вакансий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кандидатов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откликов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собеседований</a:t>
            </a:r>
          </a:p>
        </p:txBody>
      </p:sp>
    </p:spTree>
    <p:extLst>
      <p:ext uri="{BB962C8B-B14F-4D97-AF65-F5344CB8AC3E}">
        <p14:creationId xmlns:p14="http://schemas.microsoft.com/office/powerpoint/2010/main" val="300305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AB3BEC-2DB7-E2E0-55A8-A0AE5CA7BE90}"/>
              </a:ext>
            </a:extLst>
          </p:cNvPr>
          <p:cNvSpPr txBox="1"/>
          <p:nvPr/>
        </p:nvSpPr>
        <p:spPr>
          <a:xfrm>
            <a:off x="4296468" y="215153"/>
            <a:ext cx="3733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диаграмма, линия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7046BD-AECC-5FEA-95DB-948CE7E88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629" y="1164590"/>
            <a:ext cx="8816741" cy="506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4D4AEF-DA7C-2D4C-49BB-612DF940D8C3}"/>
              </a:ext>
            </a:extLst>
          </p:cNvPr>
          <p:cNvSpPr txBox="1"/>
          <p:nvPr/>
        </p:nvSpPr>
        <p:spPr>
          <a:xfrm>
            <a:off x="3947271" y="286871"/>
            <a:ext cx="4409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диаграмма, Параллельный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0D7736-0A6E-1439-B740-9C0198EBD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851" y="1270100"/>
            <a:ext cx="8038432" cy="514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3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F511D-68E8-77AE-1E53-8BCF2DDD01A7}"/>
              </a:ext>
            </a:extLst>
          </p:cNvPr>
          <p:cNvSpPr txBox="1"/>
          <p:nvPr/>
        </p:nvSpPr>
        <p:spPr>
          <a:xfrm>
            <a:off x="3164267" y="224118"/>
            <a:ext cx="5863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Диаграмма потоков данных </a:t>
            </a:r>
            <a:r>
              <a:rPr lang="en-US" sz="3200" dirty="0"/>
              <a:t>DFD</a:t>
            </a:r>
            <a:endParaRPr lang="ru-RU" sz="3200" dirty="0"/>
          </a:p>
        </p:txBody>
      </p:sp>
      <p:pic>
        <p:nvPicPr>
          <p:cNvPr id="2" name="Рисунок 1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737446-1E38-EA7C-BE69-A17AE10E0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17" y="1093469"/>
            <a:ext cx="7340417" cy="560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2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545C8-0B66-2804-BA10-4B26518AB681}"/>
              </a:ext>
            </a:extLst>
          </p:cNvPr>
          <p:cNvSpPr txBox="1"/>
          <p:nvPr/>
        </p:nvSpPr>
        <p:spPr>
          <a:xfrm>
            <a:off x="4093943" y="9761"/>
            <a:ext cx="4075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61863A-A9AD-1534-6A0D-FA2D4F2BD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602" y="656092"/>
            <a:ext cx="7860181" cy="599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4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AA264-86A2-268F-9DFD-3AB2134C1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Техническое задание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16097C-17A5-05F0-C80E-D85DDB131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ТЗ включает в себя разработку веб-сайта, через который работодатели могут размещать вакансии, кандидаты — откликаться на них, а рекрутеры — управлять процессом подбора персонала. В заявке на вакансию кандидат указывает свои навыки, опыт работы и прикрепляет резюме.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17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83EC64-3E9D-3D09-CBC2-AC29A3378E37}"/>
              </a:ext>
            </a:extLst>
          </p:cNvPr>
          <p:cNvSpPr txBox="1"/>
          <p:nvPr/>
        </p:nvSpPr>
        <p:spPr>
          <a:xfrm>
            <a:off x="2789549" y="143435"/>
            <a:ext cx="6678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E295F0-00D9-3AC8-3ECA-7FE1399AC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466" y="997686"/>
            <a:ext cx="9121792" cy="509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0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A45B6-43AE-F70D-F74E-02B234DF56C7}"/>
              </a:ext>
            </a:extLst>
          </p:cNvPr>
          <p:cNvSpPr txBox="1"/>
          <p:nvPr/>
        </p:nvSpPr>
        <p:spPr>
          <a:xfrm>
            <a:off x="3268980" y="141366"/>
            <a:ext cx="5654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3" name="Рисунок 2" descr="Изображение выглядит как диаграмма, текст, Технический чертеж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B8D258-5504-793E-5804-3CD791B95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031" y="616318"/>
            <a:ext cx="5208587" cy="624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57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94451-F1C5-5664-0C1C-1193DAA8B997}"/>
              </a:ext>
            </a:extLst>
          </p:cNvPr>
          <p:cNvSpPr txBox="1"/>
          <p:nvPr/>
        </p:nvSpPr>
        <p:spPr>
          <a:xfrm>
            <a:off x="3167378" y="143435"/>
            <a:ext cx="5857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200" dirty="0"/>
              <a:t> последовательности</a:t>
            </a:r>
          </a:p>
        </p:txBody>
      </p:sp>
      <p:pic>
        <p:nvPicPr>
          <p:cNvPr id="3" name="Рисунок 2" descr="Изображение выглядит как текст, диаграмма, Параллельный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A350EA-020C-3718-07BE-0BEE662EF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21" y="728210"/>
            <a:ext cx="8191098" cy="599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11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63A97-D0A6-78C5-C986-854F63CDFD32}"/>
              </a:ext>
            </a:extLst>
          </p:cNvPr>
          <p:cNvSpPr txBox="1"/>
          <p:nvPr/>
        </p:nvSpPr>
        <p:spPr>
          <a:xfrm>
            <a:off x="4283933" y="161364"/>
            <a:ext cx="3624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200" dirty="0"/>
              <a:t> классов</a:t>
            </a:r>
          </a:p>
        </p:txBody>
      </p:sp>
      <p:pic>
        <p:nvPicPr>
          <p:cNvPr id="3" name="Рисунок 2" descr="Изображение выглядит как текст, диаграмма, Параллельны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B14689-70B3-F1ED-6B08-5F5099FB8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513" y="1365250"/>
            <a:ext cx="7898762" cy="496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15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34707-FAF6-D088-DA62-016B4D866713}"/>
              </a:ext>
            </a:extLst>
          </p:cNvPr>
          <p:cNvSpPr txBox="1"/>
          <p:nvPr/>
        </p:nvSpPr>
        <p:spPr>
          <a:xfrm>
            <a:off x="4751721" y="170330"/>
            <a:ext cx="2688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3" name="Рисунок 2" descr="Изображение выглядит как диаграмма, рисунок, зарисовка, шаб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0959AE-4E13-52BF-3FE0-92A418C64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000" y="709372"/>
            <a:ext cx="6395637" cy="597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62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7FFF3-9227-3A0F-DF6D-225407CDB92C}"/>
              </a:ext>
            </a:extLst>
          </p:cNvPr>
          <p:cNvSpPr txBox="1"/>
          <p:nvPr/>
        </p:nvSpPr>
        <p:spPr>
          <a:xfrm>
            <a:off x="3435271" y="98611"/>
            <a:ext cx="53214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логического вида</a:t>
            </a:r>
          </a:p>
        </p:txBody>
      </p:sp>
      <p:pic>
        <p:nvPicPr>
          <p:cNvPr id="3" name="Рисунок 2" descr="Изображение выглядит как текст, диаграмма, Параллель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008891-F194-A1DE-FB71-D0990EB36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378" y="1145406"/>
            <a:ext cx="4067243" cy="537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23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AE5D9-B179-95D3-59E8-CF75F5C71D6A}"/>
              </a:ext>
            </a:extLst>
          </p:cNvPr>
          <p:cNvSpPr txBox="1"/>
          <p:nvPr/>
        </p:nvSpPr>
        <p:spPr>
          <a:xfrm>
            <a:off x="3394395" y="80683"/>
            <a:ext cx="5403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физического вида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EACBC8-1585-A3E2-49ED-F55EF80A7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17" y="1376363"/>
            <a:ext cx="612076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5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22AAE-450D-79A3-2F0F-3B25CEAF2983}"/>
              </a:ext>
            </a:extLst>
          </p:cNvPr>
          <p:cNvSpPr txBox="1"/>
          <p:nvPr/>
        </p:nvSpPr>
        <p:spPr>
          <a:xfrm>
            <a:off x="4599435" y="222799"/>
            <a:ext cx="2222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</a:t>
            </a:r>
          </a:p>
        </p:txBody>
      </p:sp>
      <p:pic>
        <p:nvPicPr>
          <p:cNvPr id="7" name="Рисунок 6" descr="Изображение выглядит как текст, снимок экрана, Веб-сайт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414114-D0AF-F693-2D69-ADDE500A9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0" y="1058698"/>
            <a:ext cx="8364755" cy="557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01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0BD336-4546-2348-93BF-88007AFB9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641" y="392764"/>
            <a:ext cx="9423534" cy="62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11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CF7CBF-FEE5-48D8-32BA-0A267F973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383" y="746626"/>
            <a:ext cx="8547234" cy="569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48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E5C406-1C02-7622-C281-EC43AAE47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652" y="522037"/>
            <a:ext cx="8720889" cy="581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584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Веб-сайт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536973-5215-ADCA-155C-F29763DB1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176" y="425784"/>
            <a:ext cx="9009647" cy="600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11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85A81-565D-EE8B-C50B-D9BB356DF3F5}"/>
              </a:ext>
            </a:extLst>
          </p:cNvPr>
          <p:cNvSpPr txBox="1"/>
          <p:nvPr/>
        </p:nvSpPr>
        <p:spPr>
          <a:xfrm>
            <a:off x="323850" y="428625"/>
            <a:ext cx="244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0D8FC-A71D-B508-9E44-C32C56552BAD}"/>
              </a:ext>
            </a:extLst>
          </p:cNvPr>
          <p:cNvSpPr txBox="1"/>
          <p:nvPr/>
        </p:nvSpPr>
        <p:spPr>
          <a:xfrm>
            <a:off x="323850" y="1770787"/>
            <a:ext cx="947737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достигнута</a:t>
            </a:r>
          </a:p>
          <a:p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полноценная ИС «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Кадрового агентство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все необходимые модели и диаграммы</a:t>
            </a:r>
          </a:p>
          <a:p>
            <a:endParaRPr lang="ru-RU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готова к программной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634975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79D23E-319B-544C-0511-499FEB3BCC89}"/>
              </a:ext>
            </a:extLst>
          </p:cNvPr>
          <p:cNvSpPr txBox="1"/>
          <p:nvPr/>
        </p:nvSpPr>
        <p:spPr>
          <a:xfrm>
            <a:off x="1392449" y="2921168"/>
            <a:ext cx="98648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79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59</TotalTime>
  <Words>242</Words>
  <Application>Microsoft Office PowerPoint</Application>
  <PresentationFormat>Широкоэкранный</PresentationFormat>
  <Paragraphs>51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Times New Roman</vt:lpstr>
      <vt:lpstr>Tw Cen MT</vt:lpstr>
      <vt:lpstr>Контур</vt:lpstr>
      <vt:lpstr>Курсовой проект на тему: Проектирование ИС “Кадровое агентство”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Техническое задание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Захар Серебренников</dc:creator>
  <cp:lastModifiedBy>Артур Оспанов</cp:lastModifiedBy>
  <cp:revision>8</cp:revision>
  <dcterms:created xsi:type="dcterms:W3CDTF">2026-05-11T17:05:22Z</dcterms:created>
  <dcterms:modified xsi:type="dcterms:W3CDTF">2026-05-14T05:54:22Z</dcterms:modified>
</cp:coreProperties>
</file>