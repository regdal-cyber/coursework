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9" r:id="rId3"/>
    <p:sldId id="257" r:id="rId4"/>
    <p:sldId id="258" r:id="rId5"/>
    <p:sldId id="260" r:id="rId6"/>
    <p:sldId id="284" r:id="rId7"/>
    <p:sldId id="262" r:id="rId8"/>
    <p:sldId id="263" r:id="rId9"/>
    <p:sldId id="27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1" r:id="rId18"/>
    <p:sldId id="282" r:id="rId19"/>
    <p:sldId id="271" r:id="rId20"/>
    <p:sldId id="272" r:id="rId21"/>
    <p:sldId id="273" r:id="rId22"/>
    <p:sldId id="279" r:id="rId23"/>
    <p:sldId id="280" r:id="rId24"/>
    <p:sldId id="274" r:id="rId25"/>
    <p:sldId id="27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67" d="100"/>
          <a:sy n="67" d="100"/>
        </p:scale>
        <p:origin x="48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2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63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934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0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99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59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259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479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9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95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68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FCD85-BA7D-46B5-8958-FAB44A4492C0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C0FB1-1E08-4064-B051-1C411884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31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1B49E8D-FFF9-5357-F26D-FADAD62FF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184" y="1333500"/>
            <a:ext cx="9784080" cy="3289300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 Проектирование ИС </a:t>
            </a:r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Кадровое агентство</a:t>
            </a:r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695ED397-81F9-431F-F5CA-8CF37E1C9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5226" y="4858110"/>
            <a:ext cx="6181548" cy="999179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Оспанов </a:t>
            </a:r>
            <a:r>
              <a:rPr lang="ru-RU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ru-RU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 группы </a:t>
            </a:r>
            <a:r>
              <a:rPr lang="ru-RU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ИСиП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-11-1</a:t>
            </a:r>
          </a:p>
          <a:p>
            <a:pPr algn="l"/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FAA570-0941-ED92-FD6B-1121AB664C7F}"/>
              </a:ext>
            </a:extLst>
          </p:cNvPr>
          <p:cNvSpPr txBox="1"/>
          <p:nvPr/>
        </p:nvSpPr>
        <p:spPr>
          <a:xfrm>
            <a:off x="532584" y="57751"/>
            <a:ext cx="11230791" cy="94296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УЧРЕЖДЕНИЕ  ТЮМЕНСКОЙ ОБЛАСТИ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“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ТЮМЕНСКИЙ ТЕХНИКУМ СТРОИТЕЛЬНОЙ ИНДУСТРИИ И ГОРОДСКОГО ХОЗЯЙСТВА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ADLaM Display" panose="02010000000000000000" pitchFamily="2" charset="0"/>
                <a:cs typeface="Times New Roman" panose="02020603050405020304" pitchFamily="18" charset="0"/>
              </a:rPr>
              <a:t>”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ea typeface="ADLaM Display" panose="0201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0E438-F1AE-834B-E9D1-C83B5428E6D3}"/>
              </a:ext>
            </a:extLst>
          </p:cNvPr>
          <p:cNvSpPr txBox="1"/>
          <p:nvPr/>
        </p:nvSpPr>
        <p:spPr>
          <a:xfrm>
            <a:off x="5186440" y="6430917"/>
            <a:ext cx="1828899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2026</a:t>
            </a:r>
          </a:p>
        </p:txBody>
      </p:sp>
    </p:spTree>
    <p:extLst>
      <p:ext uri="{BB962C8B-B14F-4D97-AF65-F5344CB8AC3E}">
        <p14:creationId xmlns:p14="http://schemas.microsoft.com/office/powerpoint/2010/main" val="422088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71521A-6895-52B8-0DE2-41F92B1E5DD0}"/>
              </a:ext>
            </a:extLst>
          </p:cNvPr>
          <p:cNvSpPr txBox="1"/>
          <p:nvPr/>
        </p:nvSpPr>
        <p:spPr>
          <a:xfrm>
            <a:off x="799583" y="369791"/>
            <a:ext cx="9927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характеристика предметной области</a:t>
            </a:r>
            <a:endParaRPr lang="ru-RU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8CF17-E204-997E-DCD5-8F9F94E15630}"/>
              </a:ext>
            </a:extLst>
          </p:cNvPr>
          <p:cNvSpPr txBox="1"/>
          <p:nvPr/>
        </p:nvSpPr>
        <p:spPr>
          <a:xfrm>
            <a:off x="799583" y="2610104"/>
            <a:ext cx="121292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сущности: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Работодатели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Вакансии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Кандидаты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Рекрутеры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329E5-B357-D9D9-DE9C-8CB94B056722}"/>
              </a:ext>
            </a:extLst>
          </p:cNvPr>
          <p:cNvSpPr txBox="1"/>
          <p:nvPr/>
        </p:nvSpPr>
        <p:spPr>
          <a:xfrm>
            <a:off x="799583" y="4514711"/>
            <a:ext cx="68086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процессы: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вакансий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кандидатов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откликов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собеседований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8CF17-E204-997E-DCD5-8F9F94E15630}"/>
              </a:ext>
            </a:extLst>
          </p:cNvPr>
          <p:cNvSpPr txBox="1"/>
          <p:nvPr/>
        </p:nvSpPr>
        <p:spPr>
          <a:xfrm>
            <a:off x="799583" y="1208895"/>
            <a:ext cx="110964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Кадровое агентство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это организация, предоставляющая услуги по подбору персонала для компаний-работодателей. Агентство выступает посредником между работодателями, нуждающимися в сотрудниках, и соискателями, находящимися в поиске работы.</a:t>
            </a:r>
          </a:p>
        </p:txBody>
      </p:sp>
    </p:spTree>
    <p:extLst>
      <p:ext uri="{BB962C8B-B14F-4D97-AF65-F5344CB8AC3E}">
        <p14:creationId xmlns:p14="http://schemas.microsoft.com/office/powerpoint/2010/main" val="3003050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4AFCC5-E725-EAF8-5A9A-3F3AF91353DF}"/>
              </a:ext>
            </a:extLst>
          </p:cNvPr>
          <p:cNvSpPr txBox="1"/>
          <p:nvPr/>
        </p:nvSpPr>
        <p:spPr>
          <a:xfrm>
            <a:off x="618566" y="385482"/>
            <a:ext cx="43967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F7298-FE62-60C4-8B56-3C1B22938FF1}"/>
              </a:ext>
            </a:extLst>
          </p:cNvPr>
          <p:cNvSpPr txBox="1"/>
          <p:nvPr/>
        </p:nvSpPr>
        <p:spPr>
          <a:xfrm>
            <a:off x="618566" y="1833857"/>
            <a:ext cx="103094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потребности компаний в квалифицированных кадрах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обработки большого объёма резюме вручную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единой платформы для взаимодействия работодателей, рекрутеров и кандидата</a:t>
            </a:r>
          </a:p>
        </p:txBody>
      </p:sp>
    </p:spTree>
    <p:extLst>
      <p:ext uri="{BB962C8B-B14F-4D97-AF65-F5344CB8AC3E}">
        <p14:creationId xmlns:p14="http://schemas.microsoft.com/office/powerpoint/2010/main" val="303880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03F466-D91B-D133-298D-48EA37B832A6}"/>
              </a:ext>
            </a:extLst>
          </p:cNvPr>
          <p:cNvSpPr txBox="1"/>
          <p:nvPr/>
        </p:nvSpPr>
        <p:spPr>
          <a:xfrm>
            <a:off x="971464" y="1177847"/>
            <a:ext cx="95743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информационную систему для автоматизации подбора персонала кадровым агентством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A3FCA-DE77-86F2-1E36-45882A863697}"/>
              </a:ext>
            </a:extLst>
          </p:cNvPr>
          <p:cNvSpPr txBox="1"/>
          <p:nvPr/>
        </p:nvSpPr>
        <p:spPr>
          <a:xfrm>
            <a:off x="971464" y="2800262"/>
            <a:ext cx="109190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предметную область</a:t>
            </a:r>
          </a:p>
          <a:p>
            <a:pPr algn="l">
              <a:buFont typeface="+mj-lt"/>
              <a:buAutoNum type="arabicPeriod"/>
            </a:pPr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функциональные модели (IDEF0, DFD)</a:t>
            </a:r>
          </a:p>
          <a:p>
            <a:pPr algn="l"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Построить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</a:t>
            </a:r>
            <a:endParaRPr lang="ru-RU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базу данных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эскизный проект веб-приложения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960847" y="118269"/>
            <a:ext cx="32419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77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AB3BEC-2DB7-E2E0-55A8-A0AE5CA7BE90}"/>
              </a:ext>
            </a:extLst>
          </p:cNvPr>
          <p:cNvSpPr txBox="1"/>
          <p:nvPr/>
        </p:nvSpPr>
        <p:spPr>
          <a:xfrm>
            <a:off x="4296468" y="215153"/>
            <a:ext cx="3733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диаграмма, линия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7046BD-AECC-5FEA-95DB-948CE7E88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629" y="1164590"/>
            <a:ext cx="8816741" cy="506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4D4AEF-DA7C-2D4C-49BB-612DF940D8C3}"/>
              </a:ext>
            </a:extLst>
          </p:cNvPr>
          <p:cNvSpPr txBox="1"/>
          <p:nvPr/>
        </p:nvSpPr>
        <p:spPr>
          <a:xfrm>
            <a:off x="3947271" y="286871"/>
            <a:ext cx="4409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 descr="Изображение выглядит как текст, диаграмма, Параллельный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0D7736-0A6E-1439-B740-9C0198EBD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721" y="1271588"/>
            <a:ext cx="8458442" cy="558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19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F511D-68E8-77AE-1E53-8BCF2DDD01A7}"/>
              </a:ext>
            </a:extLst>
          </p:cNvPr>
          <p:cNvSpPr txBox="1"/>
          <p:nvPr/>
        </p:nvSpPr>
        <p:spPr>
          <a:xfrm>
            <a:off x="3164267" y="224118"/>
            <a:ext cx="5938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потоков данных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564" y="883299"/>
            <a:ext cx="9064869" cy="597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2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545C8-0B66-2804-BA10-4B26518AB681}"/>
              </a:ext>
            </a:extLst>
          </p:cNvPr>
          <p:cNvSpPr txBox="1"/>
          <p:nvPr/>
        </p:nvSpPr>
        <p:spPr>
          <a:xfrm>
            <a:off x="4093943" y="9761"/>
            <a:ext cx="4075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61863A-A9AD-1534-6A0D-FA2D4F2BD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754" y="656092"/>
            <a:ext cx="9734843" cy="620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44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AA264-86A2-268F-9DFD-3AB2134C1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Техническое задание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16097C-17A5-05F0-C80E-D85DDB131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ТЗ включает в себя разработку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веб-приложение,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который работодатели могут размещать вакансии, кандидаты — откликаться на них, а рекрутеры — управлять процессом подбора персонала. В заявке на вакансию кандидат указывает свои навыки, опыт работы и прикрепляет резюме.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17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83EC64-3E9D-3D09-CBC2-AC29A3378E37}"/>
              </a:ext>
            </a:extLst>
          </p:cNvPr>
          <p:cNvSpPr txBox="1"/>
          <p:nvPr/>
        </p:nvSpPr>
        <p:spPr>
          <a:xfrm>
            <a:off x="2789549" y="143435"/>
            <a:ext cx="6678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E295F0-00D9-3AC8-3ECA-7FE1399AC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093" y="1094402"/>
            <a:ext cx="9121792" cy="509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0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A45B6-43AE-F70D-F74E-02B234DF56C7}"/>
              </a:ext>
            </a:extLst>
          </p:cNvPr>
          <p:cNvSpPr txBox="1"/>
          <p:nvPr/>
        </p:nvSpPr>
        <p:spPr>
          <a:xfrm>
            <a:off x="3268980" y="141366"/>
            <a:ext cx="5654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</a:p>
        </p:txBody>
      </p:sp>
      <p:pic>
        <p:nvPicPr>
          <p:cNvPr id="3" name="Рисунок 2" descr="Изображение выглядит как диаграмма, текст, Технический чертеж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B8D258-5504-793E-5804-3CD791B95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148" y="616318"/>
            <a:ext cx="6005703" cy="624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57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94451-F1C5-5664-0C1C-1193DAA8B997}"/>
              </a:ext>
            </a:extLst>
          </p:cNvPr>
          <p:cNvSpPr txBox="1"/>
          <p:nvPr/>
        </p:nvSpPr>
        <p:spPr>
          <a:xfrm>
            <a:off x="3167378" y="143435"/>
            <a:ext cx="5857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200" dirty="0"/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</a:t>
            </a:r>
          </a:p>
        </p:txBody>
      </p:sp>
      <p:pic>
        <p:nvPicPr>
          <p:cNvPr id="3" name="Рисунок 2" descr="Изображение выглядит как текст, диаграмма, Параллельный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A350EA-020C-3718-07BE-0BEE662EF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86" y="728210"/>
            <a:ext cx="9523828" cy="599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11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63A97-D0A6-78C5-C986-854F63CDFD32}"/>
              </a:ext>
            </a:extLst>
          </p:cNvPr>
          <p:cNvSpPr txBox="1"/>
          <p:nvPr/>
        </p:nvSpPr>
        <p:spPr>
          <a:xfrm>
            <a:off x="4283933" y="161364"/>
            <a:ext cx="3624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r>
              <a:rPr lang="ru-RU" sz="3200" dirty="0"/>
              <a:t> классов</a:t>
            </a:r>
          </a:p>
        </p:txBody>
      </p:sp>
      <p:pic>
        <p:nvPicPr>
          <p:cNvPr id="3" name="Рисунок 2" descr="Изображение выглядит как текст, диаграмма, Параллельны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B14689-70B3-F1ED-6B08-5F5099FB8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13" y="1224572"/>
            <a:ext cx="8377773" cy="518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15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34707-FAF6-D088-DA62-016B4D866713}"/>
              </a:ext>
            </a:extLst>
          </p:cNvPr>
          <p:cNvSpPr txBox="1"/>
          <p:nvPr/>
        </p:nvSpPr>
        <p:spPr>
          <a:xfrm>
            <a:off x="2228082" y="170330"/>
            <a:ext cx="7735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ru-RU" altLang="ko" sz="3200" dirty="0">
                <a:solidFill>
                  <a:schemeClr val="dk1"/>
                </a:solidFill>
                <a:latin typeface="Times New Roman" panose="02020603050405020304" pitchFamily="18" charset="0"/>
                <a:ea typeface="Philosopher"/>
                <a:cs typeface="Times New Roman" panose="02020603050405020304" pitchFamily="18" charset="0"/>
                <a:sym typeface="Philosopher"/>
              </a:rPr>
              <a:t>КОНЦЕПТУАЛЬНАЯ МОДЕЛЬ ДАННЫХ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диаграмма, рисунок, зарисовка, шаб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0959AE-4E13-52BF-3FE0-92A418C64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708" y="755105"/>
            <a:ext cx="7836582" cy="597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62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7FFF3-9227-3A0F-DF6D-225407CDB92C}"/>
              </a:ext>
            </a:extLst>
          </p:cNvPr>
          <p:cNvSpPr txBox="1"/>
          <p:nvPr/>
        </p:nvSpPr>
        <p:spPr>
          <a:xfrm>
            <a:off x="2776115" y="284348"/>
            <a:ext cx="66397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ko" sz="3200" dirty="0">
                <a:solidFill>
                  <a:schemeClr val="dk1"/>
                </a:solidFill>
                <a:latin typeface="Times New Roman" panose="02020603050405020304" pitchFamily="18" charset="0"/>
                <a:ea typeface="Philosopher"/>
                <a:cs typeface="Times New Roman" panose="02020603050405020304" pitchFamily="18" charset="0"/>
                <a:sym typeface="Philosopher"/>
              </a:rPr>
              <a:t>ЛОГИЧЕСКАЯ МОДЕЛЬ ДАННЫХ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текст, диаграмма, Параллельный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008891-F194-A1DE-FB71-D0990EB36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38" y="1117271"/>
            <a:ext cx="6174721" cy="537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23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AE5D9-B179-95D3-59E8-CF75F5C71D6A}"/>
              </a:ext>
            </a:extLst>
          </p:cNvPr>
          <p:cNvSpPr txBox="1"/>
          <p:nvPr/>
        </p:nvSpPr>
        <p:spPr>
          <a:xfrm>
            <a:off x="2812567" y="137833"/>
            <a:ext cx="66525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ko" sz="3200" dirty="0">
                <a:solidFill>
                  <a:schemeClr val="dk1"/>
                </a:solidFill>
                <a:latin typeface="Times New Roman" panose="02020603050405020304" pitchFamily="18" charset="0"/>
                <a:ea typeface="Philosopher"/>
                <a:cs typeface="Times New Roman" panose="02020603050405020304" pitchFamily="18" charset="0"/>
                <a:sym typeface="Philosopher"/>
              </a:rPr>
              <a:t>ФИЗИЧЕСКАЯ МОДЕЛЬ ДАННЫХ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EACBC8-1585-A3E2-49ED-F55EF80A7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208" y="968400"/>
            <a:ext cx="8239308" cy="505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25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70892" y="-26377"/>
            <a:ext cx="8733692" cy="1492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SQL </a:t>
            </a:r>
            <a:r>
              <a:rPr lang="ru-RU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запросы</a:t>
            </a:r>
            <a:r>
              <a:rPr lang="ru-RU" sz="3600" dirty="0"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1.Запросы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о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тклики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кандидата: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>
            <a:fillRect/>
          </a:stretch>
        </p:blipFill>
        <p:spPr>
          <a:xfrm>
            <a:off x="1796561" y="1556239"/>
            <a:ext cx="8282354" cy="375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69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0699" y="208008"/>
            <a:ext cx="7872046" cy="1487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SQL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запросы</a:t>
            </a:r>
            <a:endParaRPr lang="en-US" sz="28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Запросы 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на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открытые вакансии:</a:t>
            </a:r>
          </a:p>
        </p:txBody>
      </p:sp>
      <p:pic>
        <p:nvPicPr>
          <p:cNvPr id="6" name="Рисунок 5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/>
          <p:cNvPicPr/>
          <p:nvPr/>
        </p:nvPicPr>
        <p:blipFill>
          <a:blip r:embed="rId2"/>
          <a:stretch>
            <a:fillRect/>
          </a:stretch>
        </p:blipFill>
        <p:spPr>
          <a:xfrm>
            <a:off x="1790699" y="1838470"/>
            <a:ext cx="8346831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39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22AAE-450D-79A3-2F0F-3B25CEAF2983}"/>
              </a:ext>
            </a:extLst>
          </p:cNvPr>
          <p:cNvSpPr txBox="1"/>
          <p:nvPr/>
        </p:nvSpPr>
        <p:spPr>
          <a:xfrm>
            <a:off x="4599435" y="222799"/>
            <a:ext cx="2872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текст, снимок экрана, Веб-сайт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414114-D0AF-F693-2D69-ADDE500A9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750" y="1058698"/>
            <a:ext cx="8364755" cy="5576503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017499" y="355726"/>
            <a:ext cx="4690403" cy="57741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экран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801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0BD336-4546-2348-93BF-88007AFB9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29375"/>
            <a:ext cx="8262178" cy="5508119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4001692" y="121489"/>
            <a:ext cx="39163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вакансий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368211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CF7CBF-FEE5-48D8-32BA-0A267F973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383" y="746626"/>
            <a:ext cx="8547234" cy="5698156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920034" y="38740"/>
            <a:ext cx="63519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 кандидата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48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56980" y="73909"/>
            <a:ext cx="40780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рекрутера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827" y="975226"/>
            <a:ext cx="9510346" cy="539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20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21929" y="38740"/>
            <a:ext cx="34889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Собеседование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текст, снимок экрана, Веб-сайт, человек&#10;&#10;Содержимое, созданное искусственным интеллектом, может быть неверным.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93" y="746626"/>
            <a:ext cx="8428976" cy="583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11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85A81-565D-EE8B-C50B-D9BB356DF3F5}"/>
              </a:ext>
            </a:extLst>
          </p:cNvPr>
          <p:cNvSpPr txBox="1"/>
          <p:nvPr/>
        </p:nvSpPr>
        <p:spPr>
          <a:xfrm>
            <a:off x="4482611" y="542925"/>
            <a:ext cx="244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0D8FC-A71D-B508-9E44-C32C56552BAD}"/>
              </a:ext>
            </a:extLst>
          </p:cNvPr>
          <p:cNvSpPr txBox="1"/>
          <p:nvPr/>
        </p:nvSpPr>
        <p:spPr>
          <a:xfrm>
            <a:off x="1688123" y="1471849"/>
            <a:ext cx="87550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выполнения курсового проекта спроектирована информационная система «Кадровое агентство», решающая ключевые проблемы предметной области: сложность ручной обработки резюме и отсутствие единой платформы для взаимодействия работодателей, рекрутеров и кандидатов. Разработаны функциональные и UML-модели, спроектирована база данных, создан эскиз веб-приложения с личным кабинетом кандидата и списком вакансий. Полученный проект готов к дальнейшей программной реализации и внедрению в работу кадрового агентства.</a:t>
            </a:r>
            <a:endParaRPr lang="ru-RU" sz="4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975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79D23E-319B-544C-0511-499FEB3BCC89}"/>
              </a:ext>
            </a:extLst>
          </p:cNvPr>
          <p:cNvSpPr txBox="1"/>
          <p:nvPr/>
        </p:nvSpPr>
        <p:spPr>
          <a:xfrm>
            <a:off x="1392449" y="2921168"/>
            <a:ext cx="98648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793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Words>349</Words>
  <Application>Microsoft Office PowerPoint</Application>
  <PresentationFormat>Широкоэкранный</PresentationFormat>
  <Paragraphs>55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ADLaM Display</vt:lpstr>
      <vt:lpstr>Arial</vt:lpstr>
      <vt:lpstr>Calibri</vt:lpstr>
      <vt:lpstr>Calibri Light</vt:lpstr>
      <vt:lpstr>Philosopher</vt:lpstr>
      <vt:lpstr>Tahoma</vt:lpstr>
      <vt:lpstr>Times New Roman</vt:lpstr>
      <vt:lpstr>Тема Office</vt:lpstr>
      <vt:lpstr>Курсовой проект на тему: Проектирование ИС “Кадровое агентство”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Техническое задание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Главная экран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на тему: Проектирование ИС “Кадровое агентство”</dc:title>
  <dc:creator>Захар Серебренников</dc:creator>
  <cp:lastModifiedBy>Sudent</cp:lastModifiedBy>
  <cp:revision>29</cp:revision>
  <dcterms:created xsi:type="dcterms:W3CDTF">2026-05-11T17:05:22Z</dcterms:created>
  <dcterms:modified xsi:type="dcterms:W3CDTF">2026-05-14T09:39:03Z</dcterms:modified>
</cp:coreProperties>
</file>