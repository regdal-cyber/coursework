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9" r:id="rId3"/>
    <p:sldId id="257" r:id="rId4"/>
    <p:sldId id="258" r:id="rId5"/>
    <p:sldId id="260" r:id="rId6"/>
    <p:sldId id="284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81" r:id="rId17"/>
    <p:sldId id="282" r:id="rId18"/>
    <p:sldId id="271" r:id="rId19"/>
    <p:sldId id="272" r:id="rId20"/>
    <p:sldId id="273" r:id="rId21"/>
    <p:sldId id="279" r:id="rId22"/>
    <p:sldId id="280" r:id="rId23"/>
    <p:sldId id="274" r:id="rId24"/>
    <p:sldId id="275" r:id="rId2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7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24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725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7634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34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50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992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592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259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6479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294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8953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682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318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1B49E8D-FFF9-5357-F26D-FADAD62FF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2184" y="1333500"/>
            <a:ext cx="9784080" cy="3289300"/>
          </a:xfr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ru-R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проект на тему: Проектирование ИС </a:t>
            </a:r>
            <a:r>
              <a:rPr lang="en-US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Кадровое агентство</a:t>
            </a:r>
            <a:r>
              <a:rPr lang="en-US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ru-RU" sz="5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695ED397-81F9-431F-F5CA-8CF37E1C95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05226" y="4858110"/>
            <a:ext cx="6181548" cy="999179"/>
          </a:xfr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algn="l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Оспанов </a:t>
            </a:r>
            <a:r>
              <a:rPr lang="ru-RU" sz="14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А.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A.</a:t>
            </a:r>
            <a:endParaRPr lang="ru-RU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1 курса очной формы обучения, группы </a:t>
            </a:r>
            <a:r>
              <a:rPr lang="ru-RU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ИСиП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-11-1</a:t>
            </a:r>
          </a:p>
          <a:p>
            <a:pPr algn="l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Проверила: Гончарова Т.В., должность: преподаватель проф. дисциплин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AA570-0941-ED92-FD6B-1121AB664C7F}"/>
              </a:ext>
            </a:extLst>
          </p:cNvPr>
          <p:cNvSpPr txBox="1"/>
          <p:nvPr/>
        </p:nvSpPr>
        <p:spPr>
          <a:xfrm>
            <a:off x="532584" y="57751"/>
            <a:ext cx="11230791" cy="94296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ГОСУДАРСТВЕННОЕ АВТОНОМНОЕ ПРОФЕССИОНАЛЬНОЕ ОБРАЗОВАТЕЛЬНОЕ УЧРЕЖДЕНИЕ  ТЮМЕНСКОЙ ОБЛАСТИ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“</a:t>
            </a: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ТЮМЕНСКИЙ ТЕХНИКУМ СТРОИТЕЛЬНОЙ ИНДУСТРИИ И ГОРОДСКОГО ХОЗЯЙСТВА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ea typeface="ADLaM Display" panose="02010000000000000000" pitchFamily="2" charset="0"/>
                <a:cs typeface="Times New Roman" panose="02020603050405020304" pitchFamily="18" charset="0"/>
              </a:rPr>
              <a:t>”</a:t>
            </a:r>
            <a:endParaRPr lang="ru-RU" b="1" dirty="0">
              <a:solidFill>
                <a:schemeClr val="tx1"/>
              </a:solidFill>
              <a:latin typeface="Times New Roman" panose="02020603050405020304" pitchFamily="18" charset="0"/>
              <a:ea typeface="ADLaM Display" panose="02010000000000000000" pitchFamily="2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80E438-F1AE-834B-E9D1-C83B5428E6D3}"/>
              </a:ext>
            </a:extLst>
          </p:cNvPr>
          <p:cNvSpPr txBox="1"/>
          <p:nvPr/>
        </p:nvSpPr>
        <p:spPr>
          <a:xfrm>
            <a:off x="5186440" y="6430917"/>
            <a:ext cx="1828899" cy="36933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Г. Тюмень, 2026</a:t>
            </a:r>
          </a:p>
        </p:txBody>
      </p:sp>
    </p:spTree>
    <p:extLst>
      <p:ext uri="{BB962C8B-B14F-4D97-AF65-F5344CB8AC3E}">
        <p14:creationId xmlns:p14="http://schemas.microsoft.com/office/powerpoint/2010/main" val="422088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671521A-6895-52B8-0DE2-41F92B1E5DD0}"/>
              </a:ext>
            </a:extLst>
          </p:cNvPr>
          <p:cNvSpPr txBox="1"/>
          <p:nvPr/>
        </p:nvSpPr>
        <p:spPr>
          <a:xfrm>
            <a:off x="799583" y="369791"/>
            <a:ext cx="99270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3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Общая характеристика предметной области</a:t>
            </a:r>
            <a:endParaRPr lang="ru-RU" sz="3600" b="1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A8CF17-E204-997E-DCD5-8F9F94E15630}"/>
              </a:ext>
            </a:extLst>
          </p:cNvPr>
          <p:cNvSpPr txBox="1"/>
          <p:nvPr/>
        </p:nvSpPr>
        <p:spPr>
          <a:xfrm>
            <a:off x="799583" y="2610104"/>
            <a:ext cx="1212924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сущности:</a:t>
            </a:r>
            <a:endParaRPr lang="ru-RU" sz="20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Работодатели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Вакансии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Кандидаты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Рекрутеры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329E5-B357-D9D9-DE9C-8CB94B056722}"/>
              </a:ext>
            </a:extLst>
          </p:cNvPr>
          <p:cNvSpPr txBox="1"/>
          <p:nvPr/>
        </p:nvSpPr>
        <p:spPr>
          <a:xfrm>
            <a:off x="799583" y="4514711"/>
            <a:ext cx="680869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0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процессы:</a:t>
            </a:r>
            <a:endParaRPr lang="ru-RU" sz="20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вакансий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кандидатов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Обработка откликов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Проведение собеседований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A8CF17-E204-997E-DCD5-8F9F94E15630}"/>
              </a:ext>
            </a:extLst>
          </p:cNvPr>
          <p:cNvSpPr txBox="1"/>
          <p:nvPr/>
        </p:nvSpPr>
        <p:spPr>
          <a:xfrm>
            <a:off x="799583" y="1208895"/>
            <a:ext cx="110964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Кадровое агентство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это организация, предоставляющая услуги по подбору персонала для компаний-работодателей. Агентство выступает посредником между работодателями, нуждающимися в сотрудниках, и соискателями, находящимися в поиске работы.</a:t>
            </a:r>
          </a:p>
        </p:txBody>
      </p:sp>
    </p:spTree>
    <p:extLst>
      <p:ext uri="{BB962C8B-B14F-4D97-AF65-F5344CB8AC3E}">
        <p14:creationId xmlns:p14="http://schemas.microsoft.com/office/powerpoint/2010/main" val="3003050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4AFCC5-E725-EAF8-5A9A-3F3AF91353DF}"/>
              </a:ext>
            </a:extLst>
          </p:cNvPr>
          <p:cNvSpPr txBox="1"/>
          <p:nvPr/>
        </p:nvSpPr>
        <p:spPr>
          <a:xfrm>
            <a:off x="618566" y="385482"/>
            <a:ext cx="439671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5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Проблематика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9F7298-FE62-60C4-8B56-3C1B22938FF1}"/>
              </a:ext>
            </a:extLst>
          </p:cNvPr>
          <p:cNvSpPr txBox="1"/>
          <p:nvPr/>
        </p:nvSpPr>
        <p:spPr>
          <a:xfrm>
            <a:off x="618566" y="1833857"/>
            <a:ext cx="1030941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Увеличение потребности компаний в квалифицированных кадрах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обработки большого объёма резюме вручную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единой платформы для взаимодействия работодателей, рекрутеров и кандидата</a:t>
            </a:r>
          </a:p>
        </p:txBody>
      </p:sp>
    </p:spTree>
    <p:extLst>
      <p:ext uri="{BB962C8B-B14F-4D97-AF65-F5344CB8AC3E}">
        <p14:creationId xmlns:p14="http://schemas.microsoft.com/office/powerpoint/2010/main" val="3038803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03F466-D91B-D133-298D-48EA37B832A6}"/>
              </a:ext>
            </a:extLst>
          </p:cNvPr>
          <p:cNvSpPr txBox="1"/>
          <p:nvPr/>
        </p:nvSpPr>
        <p:spPr>
          <a:xfrm>
            <a:off x="971464" y="1177847"/>
            <a:ext cx="957430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информационную систему для автоматизации подбора персонала кадровым агентством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8A3FCA-DE77-86F2-1E36-45882A863697}"/>
              </a:ext>
            </a:extLst>
          </p:cNvPr>
          <p:cNvSpPr txBox="1"/>
          <p:nvPr/>
        </p:nvSpPr>
        <p:spPr>
          <a:xfrm>
            <a:off x="971464" y="2800262"/>
            <a:ext cx="1091901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2800" b="1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  <a:endParaRPr lang="ru-RU" sz="28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Проанализировать предметную область</a:t>
            </a:r>
          </a:p>
          <a:p>
            <a:pPr algn="l">
              <a:buFont typeface="+mj-lt"/>
              <a:buAutoNum type="arabicPeriod"/>
            </a:pPr>
            <a:r>
              <a:rPr lang="ru-RU" sz="28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Построить функциональные модели (IDEF0, DFD)</a:t>
            </a:r>
          </a:p>
          <a:p>
            <a:pPr algn="l"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Построить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UML-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Диаграммы</a:t>
            </a:r>
            <a:endParaRPr lang="ru-RU" sz="28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базу данных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эскизный проект веб-приложения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3960847" y="118269"/>
            <a:ext cx="324191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277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AB3BEC-2DB7-E2E0-55A8-A0AE5CA7BE90}"/>
              </a:ext>
            </a:extLst>
          </p:cNvPr>
          <p:cNvSpPr txBox="1"/>
          <p:nvPr/>
        </p:nvSpPr>
        <p:spPr>
          <a:xfrm>
            <a:off x="4296468" y="215153"/>
            <a:ext cx="37337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Изображение выглядит как текст, диаграмма, линия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07046BD-AECC-5FEA-95DB-948CE7E88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629" y="1164590"/>
            <a:ext cx="8816741" cy="506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A4D4AEF-DA7C-2D4C-49BB-612DF940D8C3}"/>
              </a:ext>
            </a:extLst>
          </p:cNvPr>
          <p:cNvSpPr txBox="1"/>
          <p:nvPr/>
        </p:nvSpPr>
        <p:spPr>
          <a:xfrm>
            <a:off x="3947271" y="286871"/>
            <a:ext cx="4409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 descr="Изображение выглядит как текст, диаграмма, Параллельный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0D7736-0A6E-1439-B740-9C0198EBD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721" y="1271588"/>
            <a:ext cx="8458442" cy="5586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19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F511D-68E8-77AE-1E53-8BCF2DDD01A7}"/>
              </a:ext>
            </a:extLst>
          </p:cNvPr>
          <p:cNvSpPr txBox="1"/>
          <p:nvPr/>
        </p:nvSpPr>
        <p:spPr>
          <a:xfrm>
            <a:off x="3164267" y="224118"/>
            <a:ext cx="59386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потоков данных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564" y="883299"/>
            <a:ext cx="9064869" cy="5974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520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3545C8-0B66-2804-BA10-4B26518AB681}"/>
              </a:ext>
            </a:extLst>
          </p:cNvPr>
          <p:cNvSpPr txBox="1"/>
          <p:nvPr/>
        </p:nvSpPr>
        <p:spPr>
          <a:xfrm>
            <a:off x="4093943" y="9761"/>
            <a:ext cx="4075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61863A-A9AD-1534-6A0D-FA2D4F2BD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754" y="656092"/>
            <a:ext cx="9734843" cy="6201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844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83EC64-3E9D-3D09-CBC2-AC29A3378E37}"/>
              </a:ext>
            </a:extLst>
          </p:cNvPr>
          <p:cNvSpPr txBox="1"/>
          <p:nvPr/>
        </p:nvSpPr>
        <p:spPr>
          <a:xfrm>
            <a:off x="2789549" y="143435"/>
            <a:ext cx="66788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6E295F0-00D9-3AC8-3ECA-7FE1399AC3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8093" y="1094402"/>
            <a:ext cx="9121792" cy="509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403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6A45B6-43AE-F70D-F74E-02B234DF56C7}"/>
              </a:ext>
            </a:extLst>
          </p:cNvPr>
          <p:cNvSpPr txBox="1"/>
          <p:nvPr/>
        </p:nvSpPr>
        <p:spPr>
          <a:xfrm>
            <a:off x="3268980" y="141366"/>
            <a:ext cx="5654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деятельности</a:t>
            </a:r>
          </a:p>
        </p:txBody>
      </p:sp>
      <p:pic>
        <p:nvPicPr>
          <p:cNvPr id="3" name="Рисунок 2" descr="Изображение выглядит как диаграмма, текст, Технический чертеж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B8D258-5504-793E-5804-3CD791B958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3148" y="616318"/>
            <a:ext cx="6005703" cy="6241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957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194451-F1C5-5664-0C1C-1193DAA8B997}"/>
              </a:ext>
            </a:extLst>
          </p:cNvPr>
          <p:cNvSpPr txBox="1"/>
          <p:nvPr/>
        </p:nvSpPr>
        <p:spPr>
          <a:xfrm>
            <a:off x="3167378" y="143435"/>
            <a:ext cx="58572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ru-RU" sz="3200" dirty="0"/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последовательности</a:t>
            </a:r>
          </a:p>
        </p:txBody>
      </p:sp>
      <p:pic>
        <p:nvPicPr>
          <p:cNvPr id="3" name="Рисунок 2" descr="Изображение выглядит как текст, диаграмма, Параллельный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FA350EA-020C-3718-07BE-0BEE662EF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086" y="728210"/>
            <a:ext cx="9523828" cy="5990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91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963A97-D0A6-78C5-C986-854F63CDFD32}"/>
              </a:ext>
            </a:extLst>
          </p:cNvPr>
          <p:cNvSpPr txBox="1"/>
          <p:nvPr/>
        </p:nvSpPr>
        <p:spPr>
          <a:xfrm>
            <a:off x="4283933" y="161364"/>
            <a:ext cx="3624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  <a:r>
              <a:rPr lang="ru-RU" sz="3200" dirty="0"/>
              <a:t> классов</a:t>
            </a:r>
          </a:p>
        </p:txBody>
      </p:sp>
      <p:pic>
        <p:nvPicPr>
          <p:cNvPr id="3" name="Рисунок 2" descr="Изображение выглядит как текст, диаграмма, Параллельный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BB14689-70B3-F1ED-6B08-5F5099FB8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113" y="1224572"/>
            <a:ext cx="8377773" cy="518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415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634707-FAF6-D088-DA62-016B4D866713}"/>
              </a:ext>
            </a:extLst>
          </p:cNvPr>
          <p:cNvSpPr txBox="1"/>
          <p:nvPr/>
        </p:nvSpPr>
        <p:spPr>
          <a:xfrm>
            <a:off x="2228082" y="170330"/>
            <a:ext cx="77358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/>
            <a:r>
              <a:rPr lang="ru-RU" altLang="ko" sz="3200" dirty="0">
                <a:solidFill>
                  <a:schemeClr val="dk1"/>
                </a:solidFill>
                <a:latin typeface="Times New Roman" panose="02020603050405020304" pitchFamily="18" charset="0"/>
                <a:ea typeface="Philosopher"/>
                <a:cs typeface="Times New Roman" panose="02020603050405020304" pitchFamily="18" charset="0"/>
                <a:sym typeface="Philosopher"/>
              </a:rPr>
              <a:t>КОНЦЕПТУАЛЬНАЯ МОДЕЛЬ ДАННЫХ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диаграмма, рисунок, зарисовка, шабло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50959AE-4E13-52BF-3FE0-92A418C64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708" y="755105"/>
            <a:ext cx="7836582" cy="5978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2621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37FFF3-9227-3A0F-DF6D-225407CDB92C}"/>
              </a:ext>
            </a:extLst>
          </p:cNvPr>
          <p:cNvSpPr txBox="1"/>
          <p:nvPr/>
        </p:nvSpPr>
        <p:spPr>
          <a:xfrm>
            <a:off x="2776115" y="284348"/>
            <a:ext cx="663976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ko" sz="3200" dirty="0">
                <a:solidFill>
                  <a:schemeClr val="dk1"/>
                </a:solidFill>
                <a:latin typeface="Times New Roman" panose="02020603050405020304" pitchFamily="18" charset="0"/>
                <a:ea typeface="Philosopher"/>
                <a:cs typeface="Times New Roman" panose="02020603050405020304" pitchFamily="18" charset="0"/>
                <a:sym typeface="Philosopher"/>
              </a:rPr>
              <a:t>ЛОГИЧЕСКАЯ МОДЕЛЬ ДАННЫХ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текст, диаграмма, Параллельный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6008891-F194-A1DE-FB71-D0990EB36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38" y="1117271"/>
            <a:ext cx="6174721" cy="537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423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6AE5D9-B179-95D3-59E8-CF75F5C71D6A}"/>
              </a:ext>
            </a:extLst>
          </p:cNvPr>
          <p:cNvSpPr txBox="1"/>
          <p:nvPr/>
        </p:nvSpPr>
        <p:spPr>
          <a:xfrm>
            <a:off x="2812567" y="137833"/>
            <a:ext cx="665259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ko" sz="3200" dirty="0">
                <a:solidFill>
                  <a:schemeClr val="dk1"/>
                </a:solidFill>
                <a:latin typeface="Times New Roman" panose="02020603050405020304" pitchFamily="18" charset="0"/>
                <a:ea typeface="Philosopher"/>
                <a:cs typeface="Times New Roman" panose="02020603050405020304" pitchFamily="18" charset="0"/>
                <a:sym typeface="Philosopher"/>
              </a:rPr>
              <a:t>ФИЗИЧЕСКАЯ МОДЕЛЬ ДАННЫХ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текст, снимок экрана, программное обеспечение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2EACBC8-1585-A3E2-49ED-F55EF80A7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208" y="968400"/>
            <a:ext cx="8239308" cy="505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825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570892" y="-26377"/>
            <a:ext cx="8733692" cy="14922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ctr">
              <a:lnSpc>
                <a:spcPct val="150000"/>
              </a:lnSpc>
              <a:spcAft>
                <a:spcPts val="800"/>
              </a:spcAft>
            </a:pPr>
            <a:r>
              <a:rPr lang="en-US" sz="36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SQL </a:t>
            </a:r>
            <a:r>
              <a:rPr lang="ru-RU" sz="36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запросы</a:t>
            </a:r>
            <a:r>
              <a:rPr lang="ru-RU" sz="3600" dirty="0">
                <a:latin typeface="Times New Roman" panose="02020603050405020304" pitchFamily="18" charset="0"/>
                <a:ea typeface="Calibri" panose="020F0502020204030204" pitchFamily="34" charset="0"/>
              </a:rPr>
              <a:t/>
            </a:r>
            <a:br>
              <a:rPr lang="ru-RU" sz="3600" dirty="0">
                <a:latin typeface="Times New Roman" panose="02020603050405020304" pitchFamily="18" charset="0"/>
                <a:ea typeface="Calibri" panose="020F0502020204030204" pitchFamily="34" charset="0"/>
              </a:rPr>
            </a:br>
            <a:r>
              <a:rPr lang="ru-RU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1.Запросы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о</a:t>
            </a:r>
            <a:r>
              <a:rPr lang="ru-RU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тклики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кандидата:</a:t>
            </a:r>
          </a:p>
        </p:txBody>
      </p:sp>
      <p:pic>
        <p:nvPicPr>
          <p:cNvPr id="3" name="Рисунок 2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/>
          <p:cNvPicPr/>
          <p:nvPr/>
        </p:nvPicPr>
        <p:blipFill>
          <a:blip r:embed="rId2"/>
          <a:stretch>
            <a:fillRect/>
          </a:stretch>
        </p:blipFill>
        <p:spPr>
          <a:xfrm>
            <a:off x="1796561" y="1556239"/>
            <a:ext cx="8282354" cy="375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69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790699" y="208008"/>
            <a:ext cx="7872046" cy="14875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ctr">
              <a:lnSpc>
                <a:spcPct val="150000"/>
              </a:lnSpc>
              <a:spcAft>
                <a:spcPts val="800"/>
              </a:spcAft>
            </a:pPr>
            <a:r>
              <a:rPr lang="en-US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SQL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запросы</a:t>
            </a:r>
            <a:endParaRPr lang="en-US" sz="2800" dirty="0" smtClean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indent="450215" algn="ctr">
              <a:lnSpc>
                <a:spcPct val="150000"/>
              </a:lnSpc>
              <a:spcAft>
                <a:spcPts val="800"/>
              </a:spcAft>
            </a:pPr>
            <a:r>
              <a:rPr lang="en-US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2. </a:t>
            </a:r>
            <a:r>
              <a:rPr lang="ru-RU" sz="2800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Запросы на </a:t>
            </a:r>
            <a:r>
              <a:rPr lang="ru-RU" sz="2800" dirty="0">
                <a:latin typeface="Times New Roman" panose="02020603050405020304" pitchFamily="18" charset="0"/>
                <a:ea typeface="Calibri" panose="020F0502020204030204" pitchFamily="34" charset="0"/>
              </a:rPr>
              <a:t>открытые вакансии:</a:t>
            </a:r>
          </a:p>
        </p:txBody>
      </p:sp>
      <p:pic>
        <p:nvPicPr>
          <p:cNvPr id="6" name="Рисунок 5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/>
          <p:cNvPicPr/>
          <p:nvPr/>
        </p:nvPicPr>
        <p:blipFill>
          <a:blip r:embed="rId2"/>
          <a:stretch>
            <a:fillRect/>
          </a:stretch>
        </p:blipFill>
        <p:spPr>
          <a:xfrm>
            <a:off x="1790699" y="1838470"/>
            <a:ext cx="8346831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3397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F22AAE-450D-79A3-2F0F-3B25CEAF2983}"/>
              </a:ext>
            </a:extLst>
          </p:cNvPr>
          <p:cNvSpPr txBox="1"/>
          <p:nvPr/>
        </p:nvSpPr>
        <p:spPr>
          <a:xfrm>
            <a:off x="4599435" y="222799"/>
            <a:ext cx="2872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 descr="Изображение выглядит как текст, снимок экрана, Веб-сайт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2414114-D0AF-F693-2D69-ADDE500A98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750" y="1058698"/>
            <a:ext cx="8364755" cy="5576503"/>
          </a:xfrm>
          <a:prstGeom prst="rect">
            <a:avLst/>
          </a:prstGeom>
        </p:spPr>
      </p:pic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4017499" y="355726"/>
            <a:ext cx="4690403" cy="577410"/>
          </a:xfrm>
        </p:spPr>
        <p:txBody>
          <a:bodyPr>
            <a:normAutofit fontScale="90000"/>
          </a:bodyPr>
          <a:lstStyle/>
          <a:p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экран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1801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B0BD336-4546-2348-93BF-88007AFB9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829375"/>
            <a:ext cx="8262178" cy="5508119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4001692" y="121489"/>
            <a:ext cx="3916393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Список вакансий</a:t>
            </a: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3368211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3CF7CBF-FEE5-48D8-32BA-0A267F973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383" y="746626"/>
            <a:ext cx="8547234" cy="5698156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2920034" y="38740"/>
            <a:ext cx="635193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Личный кабинет кандидата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5448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056980" y="73909"/>
            <a:ext cx="4078039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Панель рекрутера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0827" y="975226"/>
            <a:ext cx="9510346" cy="5390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20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421929" y="38740"/>
            <a:ext cx="348890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Собеседование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 descr="Изображение выглядит как текст, снимок экрана, Веб-сайт, человек&#10;&#10;Содержимое, созданное искусственным интеллектом, может быть неверным.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893" y="746626"/>
            <a:ext cx="8428976" cy="583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511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785A81-565D-EE8B-C50B-D9BB356DF3F5}"/>
              </a:ext>
            </a:extLst>
          </p:cNvPr>
          <p:cNvSpPr txBox="1"/>
          <p:nvPr/>
        </p:nvSpPr>
        <p:spPr>
          <a:xfrm>
            <a:off x="4482611" y="542925"/>
            <a:ext cx="24436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0D8FC-A71D-B508-9E44-C32C56552BAD}"/>
              </a:ext>
            </a:extLst>
          </p:cNvPr>
          <p:cNvSpPr txBox="1"/>
          <p:nvPr/>
        </p:nvSpPr>
        <p:spPr>
          <a:xfrm>
            <a:off x="1688123" y="1471849"/>
            <a:ext cx="875501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результате выполнения курсового проекта спроектирована информационная система «Кадровое агентство», решающая ключевые проблемы предметной области: сложность ручной обработки резюме и отсутствие единой платформы для взаимодействия работодателей, рекрутеров и кандидатов. Разработаны функциональные и UML-модели, спроектирована база данных, создан эскиз веб-приложения с личным кабинетом кандидата и списком вакансий. Полученный проект готов к дальнейшей программной реализации и внедрению в работу кадрового агентства.</a:t>
            </a:r>
            <a:endParaRPr lang="ru-RU" sz="4000" b="0" i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975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79D23E-319B-544C-0511-499FEB3BCC89}"/>
              </a:ext>
            </a:extLst>
          </p:cNvPr>
          <p:cNvSpPr txBox="1"/>
          <p:nvPr/>
        </p:nvSpPr>
        <p:spPr>
          <a:xfrm>
            <a:off x="1392449" y="2921168"/>
            <a:ext cx="98648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</a:t>
            </a:r>
            <a:r>
              <a:rPr lang="en-US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  <a:endParaRPr lang="ru-RU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507934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251</TotalTime>
  <Words>304</Words>
  <Application>Microsoft Office PowerPoint</Application>
  <PresentationFormat>Широкоэкранный</PresentationFormat>
  <Paragraphs>53</Paragraphs>
  <Slides>24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1" baseType="lpstr">
      <vt:lpstr>ADLaM Display</vt:lpstr>
      <vt:lpstr>Arial</vt:lpstr>
      <vt:lpstr>Calibri</vt:lpstr>
      <vt:lpstr>Calibri Light</vt:lpstr>
      <vt:lpstr>Philosopher</vt:lpstr>
      <vt:lpstr>Times New Roman</vt:lpstr>
      <vt:lpstr>Тема Office</vt:lpstr>
      <vt:lpstr>Курсовой проект на тему: Проектирование ИС “Кадровое агентство”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Главная экран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 на тему: Проектирование ИС “Кадровое агентство”</dc:title>
  <dc:creator>Захар Серебренников</dc:creator>
  <cp:lastModifiedBy>Sudent</cp:lastModifiedBy>
  <cp:revision>37</cp:revision>
  <dcterms:created xsi:type="dcterms:W3CDTF">2026-05-11T17:05:22Z</dcterms:created>
  <dcterms:modified xsi:type="dcterms:W3CDTF">2026-05-14T10:53:08Z</dcterms:modified>
</cp:coreProperties>
</file>